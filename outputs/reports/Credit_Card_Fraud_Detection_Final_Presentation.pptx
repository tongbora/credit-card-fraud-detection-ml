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project context. Mention this is an end-to-end pipeline from training to dashboard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business context and explain precision-recall tradeoff importance in fraud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severe imbalance. Mention why this invalidates naive accuracy-based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chart to motivate imbalance handling with SMOTE.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EDA findings only from real figures: skewed amounts and multi-feature fraud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SMOTE is applied to train only and why leakage prevention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explain rationale for each model family and practical runtime tuning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main evidence slide. Highlight that Random Forest is selected from actual outputs/metrics/model_comparison.csv by highest F1-score.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chart-by-chart and conclude Random Forest has strongest F1 balance in this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ROC and PR relevance for imbalanced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flow: model comparison section, single prediction, batch prediction + downloadable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final recommendation clearly and reference real metrics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roadmap from academic project to production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answers concise and tied to your actual pipeline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Credit Card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Machine Learning Final Project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Student: ____________________</a:t>
            </a:r>
          </a:p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Course: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Introduction: 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Credit card fraud creates major financial and trust risks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Need to catch fraudulent transactions early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Need to reduce false alerts for legitimate users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Objective: build a practical end-to-end ML fraud detection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Source: Credit Card Fraud Detection dataset (Kaggle/ULB)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284,807 transactions total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492 fraud cases (0.17%)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Features used: V1–V28 + Amount | Target: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Data Insights: Class Imbalance &amp; EDA</a:t>
            </a:r>
          </a:p>
        </p:txBody>
      </p:sp>
      <p:pic>
        <p:nvPicPr>
          <p:cNvPr id="3" name="Picture 2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Data Insights: Amount &amp; Correlations</a:t>
            </a:r>
          </a:p>
        </p:txBody>
      </p:sp>
      <p:pic>
        <p:nvPicPr>
          <p:cNvPr id="3" name="Picture 2" descr="02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577840" cy="5029200"/>
          </a:xfrm>
          <a:prstGeom prst="rect">
            <a:avLst/>
          </a:prstGeom>
        </p:spPr>
      </p:pic>
      <p:pic>
        <p:nvPicPr>
          <p:cNvPr id="4" name="Picture 3" descr="03_top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55778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Methodology: Preprocessing &amp; SMOTE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Data quality checks (duplicates/missing values)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Feature scaling with StandardScaler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Stratified train-test split for class preservation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SMOTE applied to training data to address imbalance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Leakage-safe evaluation on untouched test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Models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Logistic Regression (baseline linear model)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Random Forest (ensemble trees)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XGBoost (gradient boosting)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Randomized hyperparameter tuning in training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Comparative Analysis (Real Metrics)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17220">
                <a:tc>
                  <a:txBody>
                    <a:bodyPr/>
                    <a:lstStyle/>
                    <a:p>
                      <a:pPr algn="l">
                        <a:defRPr sz="1600" b="1"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1500" b="0"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0.1051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0.8737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0.1876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1500" b="0"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0.8987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0.7474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0.8161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1500" b="0"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0.6696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0.7895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0.7246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5F46"/>
                </a:solidFill>
                <a:latin typeface="Calibri"/>
              </a:defRPr>
            </a:pPr>
            <a:r>
              <a:t>Best Model: Random Forest  |  Highest F1-score: 0.8161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Visual Analytics: Metric Comparison</a:t>
            </a:r>
          </a:p>
        </p:txBody>
      </p:sp>
      <p:pic>
        <p:nvPicPr>
          <p:cNvPr id="3" name="Picture 2" descr="preci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3840480" cy="4937760"/>
          </a:xfrm>
          <a:prstGeom prst="rect">
            <a:avLst/>
          </a:prstGeom>
        </p:spPr>
      </p:pic>
      <p:pic>
        <p:nvPicPr>
          <p:cNvPr id="4" name="Picture 3" descr="recal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25880"/>
            <a:ext cx="3840480" cy="4937760"/>
          </a:xfrm>
          <a:prstGeom prst="rect">
            <a:avLst/>
          </a:prstGeom>
        </p:spPr>
      </p:pic>
      <p:pic>
        <p:nvPicPr>
          <p:cNvPr id="5" name="Picture 4" descr="f1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840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ROC &amp; PR Curves</a:t>
            </a:r>
          </a:p>
        </p:txBody>
      </p:sp>
      <p:pic>
        <p:nvPicPr>
          <p:cNvPr id="3" name="Picture 2" descr="roc_cur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577840" cy="5029200"/>
          </a:xfrm>
          <a:prstGeom prst="rect">
            <a:avLst/>
          </a:prstGeom>
        </p:spPr>
      </p:pic>
      <p:pic>
        <p:nvPicPr>
          <p:cNvPr id="4" name="Picture 3" descr="pr_curv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55778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System Demo (Gradio 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Model comparison dashboard with metric cards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Single transaction prediction with fraud probability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Batch CSV upload with fraud/normal summary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Downloadable prediction results for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End-to-end fraud detection system built and deployed with Gradio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Severe class imbalance handled using SMOTE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Best model by F1-score: Random Forest (0.8161)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Random Forest precision: 0.8987 | recall: 0.7474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Threshold optimization based on business cost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Model explainability with SHAP/LIME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Probability calibration and ensemble stacking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Production monitoring, drift detection, and retraining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Why not rely on accuracy?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Why SMOTE and how leakage was prevented?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Why Random Forest selected in final run?</a:t>
            </a:r>
          </a:p>
          <a:p>
            <a:pPr>
              <a:defRPr sz="2100">
                <a:solidFill>
                  <a:srgbClr val="1E293B"/>
                </a:solidFill>
                <a:latin typeface="Calibri"/>
              </a:defRPr>
            </a:pPr>
            <a:r>
              <a:t>How would you deploy this in production?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